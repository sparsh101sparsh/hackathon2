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grpSpPr/>
      <p:sp>
        <p:nvSpPr>
          <p:cNvPr id="1" name="Rectangle 0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384048" y="73152"/>
            <a:ext cx="731520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2800" b="1">
                <a:solidFill>
                  <a:srgbClr val="FF0000"/>
                </a:solidFill>
                <a:latin typeface="Georgia"/>
              </a:rPr>
              <a:t>TECH4HACK BUILDATHON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66928"/>
            <a:ext cx="6400800" cy="6858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Cambria"/>
              </a:rPr>
              <a:t>CodeForge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298448"/>
            <a:ext cx="8229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150">
                <a:solidFill>
                  <a:srgbClr val="111827"/>
                </a:solidFill>
                <a:latin typeface="Lexend Medium"/>
              </a:rPr>
              <a:t>THEME : COMPETITIVE PROGRAMMING &amp; AI COACHING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91056"/>
            <a:ext cx="8385048" cy="2011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645920"/>
            <a:ext cx="8385048" cy="336499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719072"/>
            <a:ext cx="3931920" cy="32186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050">
                <a:solidFill>
                  <a:srgbClr val="B45309"/>
                </a:solidFill>
                <a:latin typeface="Lexend Medium"/>
              </a:rPr>
              <a:t>TEAM NAME</a:t>
            </a:r>
          </a:p>
          <a:p>
            <a:pPr algn="l">
              <a:spcBef>
                <a:spcPts val="200"/>
              </a:spcBef>
            </a:pPr>
            <a:r>
              <a:rPr sz="2700" b="1">
                <a:solidFill>
                  <a:srgbClr val="111827"/>
                </a:solidFill>
                <a:latin typeface="Cambria"/>
              </a:rPr>
              <a:t>WinterIsComing</a:t>
            </a:r>
          </a:p>
          <a:p>
            <a:pPr algn="l">
              <a:spcBef>
                <a:spcPts val="800"/>
              </a:spcBef>
            </a:pPr>
            <a:r>
              <a:rPr sz="1050">
                <a:solidFill>
                  <a:srgbClr val="B45309"/>
                </a:solidFill>
                <a:latin typeface="Lexend Medium"/>
              </a:rPr>
              <a:t>TEAM ID: </a:t>
            </a:r>
            <a:r>
              <a:rPr sz="1150" b="1">
                <a:solidFill>
                  <a:srgbClr val="111827"/>
                </a:solidFill>
                <a:latin typeface="Lexend Medium"/>
              </a:rPr>
              <a:t>8D89660080E1</a:t>
            </a:r>
          </a:p>
          <a:p>
            <a:pPr algn="l">
              <a:spcBef>
                <a:spcPts val="1200"/>
              </a:spcBef>
            </a:pPr>
            <a:r>
              <a:rPr sz="1050">
                <a:solidFill>
                  <a:srgbClr val="B45309"/>
                </a:solidFill>
                <a:latin typeface="Lexend Medium"/>
              </a:rPr>
              <a:t>COLLEGE / INSTITUTION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111827"/>
                </a:solidFill>
                <a:latin typeface="Calibri"/>
              </a:rPr>
              <a:t>ABES Engineering College, Ghaziabad</a:t>
            </a:r>
          </a:p>
          <a:p>
            <a:pPr algn="l">
              <a:spcBef>
                <a:spcPts val="1200"/>
              </a:spcBef>
            </a:pPr>
            <a:r>
              <a:rPr sz="1050">
                <a:solidFill>
                  <a:srgbClr val="B45309"/>
                </a:solidFill>
                <a:latin typeface="Lexend Medium"/>
              </a:rPr>
              <a:t>HACKATHON EVENT</a:t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111827"/>
                </a:solidFill>
                <a:latin typeface="Calibri"/>
              </a:rPr>
              <a:t>Tech4Hack Buildathon 2 — National Level</a:t>
            </a:r>
          </a:p>
          <a:p>
            <a:pPr algn="l">
              <a:spcBef>
                <a:spcPts val="1200"/>
              </a:spcBef>
            </a:pPr>
            <a:r>
              <a:rPr sz="1050">
                <a:solidFill>
                  <a:srgbClr val="B45309"/>
                </a:solidFill>
                <a:latin typeface="Lexend Medium"/>
              </a:rPr>
              <a:t>LIVE DEPLOYMENT URL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1E2761"/>
                </a:solidFill>
                <a:latin typeface="Calibri"/>
              </a:rPr>
              <a:t>https://hackathon2-olive-eight.vercel.app/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6592" y="1719072"/>
            <a:ext cx="3886200" cy="32186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050">
                <a:solidFill>
                  <a:srgbClr val="B45309"/>
                </a:solidFill>
                <a:latin typeface="Lexend Medium"/>
              </a:rPr>
              <a:t>TEAM MEMBERS &amp; ROLES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B45309"/>
                </a:solidFill>
                <a:latin typeface="Lexend Medium"/>
              </a:rPr>
              <a:t>•  </a:t>
            </a:r>
            <a:r>
              <a:rPr sz="1300" b="1">
                <a:solidFill>
                  <a:srgbClr val="111827"/>
                </a:solidFill>
                <a:latin typeface="Lexend Medium"/>
              </a:rPr>
              <a:t>Sparsh Singh</a:t>
            </a:r>
            <a:r>
              <a:rPr sz="950">
                <a:solidFill>
                  <a:srgbClr val="475569"/>
                </a:solidFill>
                <a:latin typeface="Roboto"/>
              </a:rPr>
              <a:t>
   Lead Developer &amp; System Architect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B45309"/>
                </a:solidFill>
                <a:latin typeface="Lexend Medium"/>
              </a:rPr>
              <a:t>•  </a:t>
            </a:r>
            <a:r>
              <a:rPr sz="1300" b="1">
                <a:solidFill>
                  <a:srgbClr val="111827"/>
                </a:solidFill>
                <a:latin typeface="Lexend Medium"/>
              </a:rPr>
              <a:t>Shashwat Rastogi</a:t>
            </a:r>
            <a:r>
              <a:rPr sz="950">
                <a:solidFill>
                  <a:srgbClr val="475569"/>
                </a:solidFill>
                <a:latin typeface="Roboto"/>
              </a:rPr>
              <a:t>
   Full-Stack Engineer &amp; AI Integration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B45309"/>
                </a:solidFill>
                <a:latin typeface="Lexend Medium"/>
              </a:rPr>
              <a:t>•  </a:t>
            </a:r>
            <a:r>
              <a:rPr sz="1300" b="1">
                <a:solidFill>
                  <a:srgbClr val="111827"/>
                </a:solidFill>
                <a:latin typeface="Lexend Medium"/>
              </a:rPr>
              <a:t>Sumit Singh</a:t>
            </a:r>
            <a:r>
              <a:rPr sz="950">
                <a:solidFill>
                  <a:srgbClr val="475569"/>
                </a:solidFill>
                <a:latin typeface="Roboto"/>
              </a:rPr>
              <a:t>
   Backend Engine &amp; Piston Execution Specialist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B45309"/>
                </a:solidFill>
                <a:latin typeface="Lexend Medium"/>
              </a:rPr>
              <a:t>•  </a:t>
            </a:r>
            <a:r>
              <a:rPr sz="1300" b="1">
                <a:solidFill>
                  <a:srgbClr val="111827"/>
                </a:solidFill>
                <a:latin typeface="Lexend Medium"/>
              </a:rPr>
              <a:t>Sudiksha Singh</a:t>
            </a:r>
            <a:r>
              <a:rPr sz="950">
                <a:solidFill>
                  <a:srgbClr val="475569"/>
                </a:solidFill>
                <a:latin typeface="Roboto"/>
              </a:rPr>
              <a:t>
   UI/UX Designer &amp; Product Lead</a:t>
            </a:r>
          </a:p>
          <a:p>
            <a:pPr algn="l">
              <a:spcBef>
                <a:spcPts val="1200"/>
              </a:spcBef>
            </a:pPr>
            <a:r>
              <a:rPr sz="1050">
                <a:solidFill>
                  <a:srgbClr val="B45309"/>
                </a:solidFill>
                <a:latin typeface="Lexend Medium"/>
              </a:rPr>
              <a:t>OPEN SOURCE REPOSITORY</a:t>
            </a:r>
          </a:p>
          <a:p>
            <a:pPr algn="l">
              <a:spcBef>
                <a:spcPts val="200"/>
              </a:spcBef>
            </a:pPr>
            <a:r>
              <a:rPr sz="1150" b="1">
                <a:solidFill>
                  <a:srgbClr val="1E2761"/>
                </a:solidFill>
                <a:latin typeface="Calibri"/>
              </a:rPr>
              <a:t>https://github.com/sparsh101sparsh/hackathon2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grpSpPr/>
      <p:sp>
        <p:nvSpPr>
          <p:cNvPr id="1" name="Rectangle 0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384048" y="73152"/>
            <a:ext cx="8385048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2200" b="1">
                <a:solidFill>
                  <a:srgbClr val="FF0000"/>
                </a:solidFill>
                <a:latin typeface="Georgia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57200"/>
            <a:ext cx="8385048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050">
                <a:solidFill>
                  <a:srgbClr val="1E2761"/>
                </a:solidFill>
                <a:latin typeface="Lexend Medium"/>
              </a:rPr>
              <a:t>28M+ developers worldwide struggle daily — existing tools are broken, fragmented &amp; expensive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94944"/>
            <a:ext cx="8385048" cy="2011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731520"/>
            <a:ext cx="4160520" cy="40416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768096"/>
            <a:ext cx="3977639" cy="39684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400" b="1">
                <a:solidFill>
                  <a:srgbClr val="F2A93B"/>
                </a:solidFill>
                <a:latin typeface="Cambria"/>
              </a:rPr>
              <a:t>The Scale of the Problem</a:t>
            </a:r>
          </a:p>
          <a:p>
            <a:pPr algn="l">
              <a:spcBef>
                <a:spcPts val="600"/>
              </a:spcBef>
            </a:pPr>
            <a:r>
              <a:rPr sz="1000" b="1">
                <a:solidFill>
                  <a:srgbClr val="F2A93B"/>
                </a:solidFill>
                <a:latin typeface="Roboto"/>
              </a:rPr>
              <a:t>▸ </a:t>
            </a:r>
            <a:r>
              <a:rPr sz="1000" b="1">
                <a:solidFill>
                  <a:srgbClr val="FFFFFF"/>
                </a:solidFill>
                <a:latin typeface="Roboto SemiBold"/>
              </a:rPr>
              <a:t>28M+ Global Developers — </a:t>
            </a:r>
            <a:r>
              <a:rPr sz="900">
                <a:solidFill>
                  <a:srgbClr val="CBD5E1"/>
                </a:solidFill>
                <a:latin typeface="Roboto"/>
              </a:rPr>
              <a:t>active on LeetCode &amp; HackerRank, yet 89% fail top-tier FAANG coding interviews due to zero real coaching.</a:t>
            </a:r>
          </a:p>
          <a:p>
            <a:pPr algn="l">
              <a:spcBef>
                <a:spcPts val="600"/>
              </a:spcBef>
            </a:pPr>
            <a:r>
              <a:rPr sz="1000" b="1">
                <a:solidFill>
                  <a:srgbClr val="F2A93B"/>
                </a:solidFill>
                <a:latin typeface="Roboto"/>
              </a:rPr>
              <a:t>▸ </a:t>
            </a:r>
            <a:r>
              <a:rPr sz="1000" b="1">
                <a:solidFill>
                  <a:srgbClr val="FFFFFF"/>
                </a:solidFill>
                <a:latin typeface="Roboto SemiBold"/>
              </a:rPr>
              <a:t>5+ Disconnected Tools — </a:t>
            </a:r>
            <a:r>
              <a:rPr sz="900">
                <a:solidFill>
                  <a:srgbClr val="CBD5E1"/>
                </a:solidFill>
                <a:latin typeface="Roboto"/>
              </a:rPr>
              <a:t>juggled daily by every student: LeetCode (problems), YouTube (tutorials), ChatGPT (code), Discord (hints) &amp; Notion (notes).</a:t>
            </a:r>
          </a:p>
          <a:p>
            <a:pPr algn="l">
              <a:spcBef>
                <a:spcPts val="600"/>
              </a:spcBef>
            </a:pPr>
            <a:r>
              <a:rPr sz="1000" b="1">
                <a:solidFill>
                  <a:srgbClr val="F2A93B"/>
                </a:solidFill>
                <a:latin typeface="Roboto"/>
              </a:rPr>
              <a:t>▸ </a:t>
            </a:r>
            <a:r>
              <a:rPr sz="1000" b="1">
                <a:solidFill>
                  <a:srgbClr val="FFFFFF"/>
                </a:solidFill>
                <a:latin typeface="Roboto SemiBold"/>
              </a:rPr>
              <a:t>$15,000+ Average Cost — </a:t>
            </a:r>
            <a:r>
              <a:rPr sz="900">
                <a:solidFill>
                  <a:srgbClr val="CBD5E1"/>
                </a:solidFill>
                <a:latin typeface="Roboto"/>
              </a:rPr>
              <a:t>charged by coding bootcamps — completely unaffordable for over 90% of aspiring developers globally.</a:t>
            </a:r>
          </a:p>
          <a:p>
            <a:pPr algn="l">
              <a:spcBef>
                <a:spcPts val="600"/>
              </a:spcBef>
            </a:pPr>
            <a:r>
              <a:rPr sz="1000" b="1">
                <a:solidFill>
                  <a:srgbClr val="F2A93B"/>
                </a:solidFill>
                <a:latin typeface="Roboto"/>
              </a:rPr>
              <a:t>▸ </a:t>
            </a:r>
            <a:r>
              <a:rPr sz="1000" b="1">
                <a:solidFill>
                  <a:srgbClr val="FFFFFF"/>
                </a:solidFill>
                <a:latin typeface="Roboto SemiBold"/>
              </a:rPr>
              <a:t>74% CS Graduates — </a:t>
            </a:r>
            <a:r>
              <a:rPr sz="900">
                <a:solidFill>
                  <a:srgbClr val="CBD5E1"/>
                </a:solidFill>
                <a:latin typeface="Roboto"/>
              </a:rPr>
              <a:t>report feeling completely unprepared for real-world technical interviews and live coding rounds (Stack Overflow 2024).</a:t>
            </a:r>
          </a:p>
          <a:p>
            <a:pPr algn="l">
              <a:spcBef>
                <a:spcPts val="600"/>
              </a:spcBef>
            </a:pPr>
            <a:r>
              <a:rPr sz="1000" b="1">
                <a:solidFill>
                  <a:srgbClr val="F2A93B"/>
                </a:solidFill>
                <a:latin typeface="Roboto"/>
              </a:rPr>
              <a:t>▸ </a:t>
            </a:r>
            <a:r>
              <a:rPr sz="1000" b="1">
                <a:solidFill>
                  <a:srgbClr val="FFFFFF"/>
                </a:solidFill>
                <a:latin typeface="Roboto SemiBold"/>
              </a:rPr>
              <a:t>0 Unified Platforms — </a:t>
            </a:r>
            <a:r>
              <a:rPr sz="900">
                <a:solidFill>
                  <a:srgbClr val="CBD5E1"/>
                </a:solidFill>
                <a:latin typeface="Roboto"/>
              </a:rPr>
              <a:t>currently integrate DSA practice, real-time code execution, 3-tier Socratic AI coaching, and ELO-rated contests.</a:t>
            </a:r>
          </a:p>
          <a:p>
            <a:pPr algn="l">
              <a:spcBef>
                <a:spcPts val="600"/>
              </a:spcBef>
            </a:pPr>
            <a:r>
              <a:rPr sz="1000" b="1">
                <a:solidFill>
                  <a:srgbClr val="F2A93B"/>
                </a:solidFill>
                <a:latin typeface="Roboto"/>
              </a:rPr>
              <a:t>▸ </a:t>
            </a:r>
            <a:r>
              <a:rPr sz="1000" b="1">
                <a:solidFill>
                  <a:srgbClr val="FFFFFF"/>
                </a:solidFill>
                <a:latin typeface="Roboto SemiBold"/>
              </a:rPr>
              <a:t>3–6 Months Wasted — </a:t>
            </a:r>
            <a:r>
              <a:rPr sz="900">
                <a:solidFill>
                  <a:srgbClr val="CBD5E1"/>
                </a:solidFill>
                <a:latin typeface="Roboto"/>
              </a:rPr>
              <a:t>per developer in context switching between static judges and unhelpful generic AI chatbots.</a:t>
            </a:r>
          </a:p>
          <a:p>
            <a:pPr algn="l">
              <a:spcBef>
                <a:spcPts val="600"/>
              </a:spcBef>
            </a:pPr>
            <a:r>
              <a:rPr sz="1000" b="1">
                <a:solidFill>
                  <a:srgbClr val="F2A93B"/>
                </a:solidFill>
                <a:latin typeface="Roboto"/>
              </a:rPr>
              <a:t>▸ </a:t>
            </a:r>
            <a:r>
              <a:rPr sz="1000" b="1">
                <a:solidFill>
                  <a:srgbClr val="FFFFFF"/>
                </a:solidFill>
                <a:latin typeface="Roboto SemiBold"/>
              </a:rPr>
              <a:t>40% Abandonment Rate — </a:t>
            </a:r>
            <a:r>
              <a:rPr sz="900">
                <a:solidFill>
                  <a:srgbClr val="CBD5E1"/>
                </a:solidFill>
                <a:latin typeface="Roboto"/>
              </a:rPr>
              <a:t>on competitive coding platforms within 30 days due to frustration with binary Accept/Reject verdicts.</a:t>
            </a:r>
          </a:p>
          <a:p>
            <a:pPr algn="l">
              <a:spcBef>
                <a:spcPts val="600"/>
              </a:spcBef>
            </a:pPr>
            <a:r>
              <a:rPr sz="1000" b="1">
                <a:solidFill>
                  <a:srgbClr val="F2A93B"/>
                </a:solidFill>
                <a:latin typeface="Roboto"/>
              </a:rPr>
              <a:t>▸ </a:t>
            </a:r>
            <a:r>
              <a:rPr sz="1000" b="1">
                <a:solidFill>
                  <a:srgbClr val="FFFFFF"/>
                </a:solidFill>
                <a:latin typeface="Roboto SemiBold"/>
              </a:rPr>
              <a:t>Severe Dev Burnout — </a:t>
            </a:r>
            <a:r>
              <a:rPr sz="900">
                <a:solidFill>
                  <a:srgbClr val="CBD5E1"/>
                </a:solidFill>
                <a:latin typeface="Roboto"/>
              </a:rPr>
              <a:t>caused by grinding 500+ problems blindly without personalized feedback on code quality, style or complexity.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731520"/>
            <a:ext cx="3995928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150" b="1">
                <a:solidFill>
                  <a:srgbClr val="1E2761"/>
                </a:solidFill>
                <a:latin typeface="Inter SemiBold"/>
              </a:rPr>
              <a:t>Why Existing Solutions Fail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987552"/>
            <a:ext cx="3995928" cy="1234440"/>
          </a:xfrm>
          <a:prstGeom prst="rect">
            <a:avLst/>
          </a:prstGeom>
          <a:solidFill>
            <a:srgbClr val="F8FAFC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9744" y="1024128"/>
            <a:ext cx="3886200" cy="11612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Inter SemiBold"/>
              </a:rPr>
              <a:t>LeetCode / HackerRank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Static problem sets without interactive AI coaching or guided step-by-step explanation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No Socratic hint system — binary Accept/Reject leaves learners stranded when stuck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No live timed ELO contest ecosystem to continuously benchmark competitive rating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No automated mock technical interview simulation with real-time hiring evaluation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Lacks code complexity analysis, anti-pattern detection, or architectural review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Rigid problem descriptions without personalized adaptivity or learning paths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258568"/>
            <a:ext cx="3995928" cy="1234440"/>
          </a:xfrm>
          <a:prstGeom prst="rect">
            <a:avLst/>
          </a:prstGeom>
          <a:solidFill>
            <a:srgbClr val="F8FAFC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9744" y="2295144"/>
            <a:ext cx="3886200" cy="11612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Inter SemiBold"/>
              </a:rPr>
              <a:t>ChatGPT / Generic AI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Instantly outputs complete solution code, destroying the critical learning process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No integrated code execution engine — zero validation against real edge test cases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Unstructured &amp; unguided — no DSA progression framework or topic roadmap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Hallucinates incorrect algorithmic complexities and inefficient data structures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Cannot conduct structured multi-turn technical interviews or system design sessions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Lacks company-specific problem archives, tagging, or candidate readiness scoring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3529584"/>
            <a:ext cx="3995928" cy="1234440"/>
          </a:xfrm>
          <a:prstGeom prst="rect">
            <a:avLst/>
          </a:prstGeom>
          <a:solidFill>
            <a:srgbClr val="F8FAFC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3566160"/>
            <a:ext cx="3886200" cy="11612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Inter SemiBold"/>
              </a:rPr>
              <a:t>Coding Bootcamps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Exorbitant pricing ($10,000–$20,000+) creating a massive financial barrier for students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Rigid fixed schedules with no self-paced flexibility for working developers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Manual human code reviews take 24–48 hours instead of instant real-time feedback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Human mentors cannot scale to support 28 Million global developers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Lacks gamified competitive coding rankings or standardized ELO rating systems</a:t>
            </a:r>
          </a:p>
          <a:p>
            <a:pPr algn="l">
              <a:spcBef>
                <a:spcPts val="250"/>
              </a:spcBef>
            </a:pPr>
            <a:r>
              <a:rPr sz="840">
                <a:solidFill>
                  <a:srgbClr val="475569"/>
                </a:solidFill>
                <a:latin typeface="Inter"/>
              </a:rPr>
              <a:t>• Non-standardized curriculum that quickly becomes outdated as tech stacks evolve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4809744"/>
            <a:ext cx="8385048" cy="274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8229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050" b="1">
                <a:solidFill>
                  <a:srgbClr val="F2A93B"/>
                </a:solidFill>
                <a:latin typeface="Spectral Medium"/>
              </a:rPr>
              <a:t>💡 CodeForge AI is the ONLY platform unifying DSA practice + AI coaching + ELO contests + mock interviews — 100% FREE.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grpSpPr/>
      <p:sp>
        <p:nvSpPr>
          <p:cNvPr id="1" name="Rectangle 0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384048" y="73152"/>
            <a:ext cx="8385048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2200" b="1">
                <a:solidFill>
                  <a:srgbClr val="FF0000"/>
                </a:solidFill>
                <a:latin typeface="Georgia"/>
              </a:rP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8385048" cy="2011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475488"/>
            <a:ext cx="8385048" cy="87782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512064"/>
            <a:ext cx="8202168" cy="8046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350" b="1">
                <a:solidFill>
                  <a:srgbClr val="F2A93B"/>
                </a:solidFill>
                <a:latin typeface="Cambria"/>
              </a:rPr>
              <a:t>CodeForge AI — The All-In-One Ecosystem for Developers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93C5FD"/>
                </a:solidFill>
                <a:latin typeface="Cambria"/>
              </a:rPr>
              <a:t>Transforming Passive Practice into Active Skill Mastery. </a:t>
            </a:r>
            <a:r>
              <a:rPr sz="1019">
                <a:solidFill>
                  <a:srgbClr val="CBD5E1"/>
                </a:solidFill>
                <a:latin typeface="Calibri"/>
              </a:rPr>
              <a:t>CodeForge AI bridges the gap between problem-solving and industry readiness. It runs production-grade code execution via Piston API, delivers 3-tier Socratic AI tutoring, evaluates full system design architectures, conducts realistic mock interviews with hiring verdicts, and gamifies growth via ELO-rated competitive contests.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89888"/>
            <a:ext cx="4160520" cy="3675887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26464"/>
            <a:ext cx="3977639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350" b="1">
                <a:solidFill>
                  <a:srgbClr val="F2A93B"/>
                </a:solidFill>
                <a:latin typeface="Cambria"/>
              </a:rPr>
              <a:t>How CodeForge AI Works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F2A93B"/>
                </a:solidFill>
                <a:latin typeface="Roboto"/>
              </a:rPr>
              <a:t>[01] </a:t>
            </a:r>
            <a:r>
              <a:rPr sz="900">
                <a:solidFill>
                  <a:srgbClr val="CBD5E1"/>
                </a:solidFill>
                <a:latin typeface="Roboto"/>
              </a:rPr>
              <a:t>Problem Selection: Choose from 52+ curated DSA problems categorized by topic, company tag (Google, Meta, Amazon) and 6 difficulty levels.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F2A93B"/>
                </a:solidFill>
                <a:latin typeface="Roboto"/>
              </a:rPr>
              <a:t>[02] </a:t>
            </a:r>
            <a:r>
              <a:rPr sz="900">
                <a:solidFill>
                  <a:srgbClr val="CBD5E1"/>
                </a:solidFill>
                <a:latin typeface="Roboto"/>
              </a:rPr>
              <a:t>Monaco Code Editor: Write solutions in a VS Code-grade editor supporting Python, C++, Java, JS, Go, Rust, and PHP with syntax checks.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F2A93B"/>
                </a:solidFill>
                <a:latin typeface="Roboto"/>
              </a:rPr>
              <a:t>[03] </a:t>
            </a:r>
            <a:r>
              <a:rPr sz="900">
                <a:solidFill>
                  <a:srgbClr val="CBD5E1"/>
                </a:solidFill>
                <a:latin typeface="Roboto"/>
              </a:rPr>
              <a:t>Piston API Execution: Code is compiled &amp; run instantly in isolated Docker containers with real-time test case verdicts and execution times.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F2A93B"/>
                </a:solidFill>
                <a:latin typeface="Roboto"/>
              </a:rPr>
              <a:t>[04] </a:t>
            </a:r>
            <a:r>
              <a:rPr sz="900">
                <a:solidFill>
                  <a:srgbClr val="CBD5E1"/>
                </a:solidFill>
                <a:latin typeface="Roboto"/>
              </a:rPr>
              <a:t>AI Code Audit: gpt-5.6-sol analyzes your code for O(N) time/space complexity, memory footprint, edge-case flaws, and anti-patterns.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F2A93B"/>
                </a:solidFill>
                <a:latin typeface="Roboto"/>
              </a:rPr>
              <a:t>[05] </a:t>
            </a:r>
            <a:r>
              <a:rPr sz="900">
                <a:solidFill>
                  <a:srgbClr val="CBD5E1"/>
                </a:solidFill>
                <a:latin typeface="Roboto"/>
              </a:rPr>
              <a:t>3-Tier Socratic Hints: Get progressive nudges (1: Conceptual Approach, 2: Algorithmic Logic, 3: Pseudo-code) without spoiling solutions.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F2A93B"/>
                </a:solidFill>
                <a:latin typeface="Roboto"/>
              </a:rPr>
              <a:t>[06] </a:t>
            </a:r>
            <a:r>
              <a:rPr sz="900">
                <a:solidFill>
                  <a:srgbClr val="CBD5E1"/>
                </a:solidFill>
                <a:latin typeface="Roboto"/>
              </a:rPr>
              <a:t>AI Mock Interviews: Participate in multi-turn voice/text technical interviews with structured Hire / Strong Hire / No Hire evaluation rubrics.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F2A93B"/>
                </a:solidFill>
                <a:latin typeface="Roboto"/>
              </a:rPr>
              <a:t>[07] </a:t>
            </a:r>
            <a:r>
              <a:rPr sz="900">
                <a:solidFill>
                  <a:srgbClr val="CBD5E1"/>
                </a:solidFill>
                <a:latin typeface="Roboto"/>
              </a:rPr>
              <a:t>System Design Evaluator: Draft cloud system architectures and receive instant AI analysis on scalability bottlenecks and trade-offs.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F2A93B"/>
                </a:solidFill>
                <a:latin typeface="Roboto"/>
              </a:rPr>
              <a:t>[08] </a:t>
            </a:r>
            <a:r>
              <a:rPr sz="900">
                <a:solidFill>
                  <a:srgbClr val="CBD5E1"/>
                </a:solidFill>
                <a:latin typeface="Roboto"/>
              </a:rPr>
              <a:t>ELO Rated Contests: Join live timed coding battles, climb Codeforces-style global leaderboards (800–3500 rating), and track progress.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7448" y="1389888"/>
            <a:ext cx="4032504" cy="3675887"/>
          </a:xfrm>
          <a:prstGeom prst="rect">
            <a:avLst/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426464"/>
            <a:ext cx="3886200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350" b="1">
                <a:solidFill>
                  <a:srgbClr val="1E2761"/>
                </a:solidFill>
                <a:latin typeface="Cambria"/>
              </a:rPr>
              <a:t>The CodeForge AI Advantage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1E2761"/>
                </a:solidFill>
                <a:latin typeface="Roboto"/>
              </a:rPr>
              <a:t>► </a:t>
            </a:r>
            <a:r>
              <a:rPr sz="950" b="1">
                <a:solidFill>
                  <a:srgbClr val="111827"/>
                </a:solidFill>
                <a:latin typeface="Roboto SemiBold"/>
              </a:rPr>
              <a:t>52+ Curated DSA Problems: </a:t>
            </a:r>
            <a:r>
              <a:rPr sz="900">
                <a:solidFill>
                  <a:srgbClr val="475569"/>
                </a:solidFill>
                <a:latin typeface="Roboto"/>
              </a:rPr>
              <a:t>Covering Arrays, Trees, Dynamic Programming, Graphs, Backtracking, Tries &amp; Greedy algorithms with full test suites.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1E2761"/>
                </a:solidFill>
                <a:latin typeface="Roboto"/>
              </a:rPr>
              <a:t>► </a:t>
            </a:r>
            <a:r>
              <a:rPr sz="950" b="1">
                <a:solidFill>
                  <a:srgbClr val="111827"/>
                </a:solidFill>
                <a:latin typeface="Roboto SemiBold"/>
              </a:rPr>
              <a:t>7 Programming Languages: </a:t>
            </a:r>
            <a:r>
              <a:rPr sz="900">
                <a:solidFill>
                  <a:srgbClr val="475569"/>
                </a:solidFill>
                <a:latin typeface="Roboto"/>
              </a:rPr>
              <a:t>Full compilation &amp; execution for Python, C++, Java, JavaScript, Go, Rust &amp; PHP via high-speed Piston API backend.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1E2761"/>
                </a:solidFill>
                <a:latin typeface="Roboto"/>
              </a:rPr>
              <a:t>► </a:t>
            </a:r>
            <a:r>
              <a:rPr sz="950" b="1">
                <a:solidFill>
                  <a:srgbClr val="111827"/>
                </a:solidFill>
                <a:latin typeface="Roboto SemiBold"/>
              </a:rPr>
              <a:t>3-Tier Socratic AI Tutor: </a:t>
            </a:r>
            <a:r>
              <a:rPr sz="900">
                <a:solidFill>
                  <a:srgbClr val="475569"/>
                </a:solidFill>
                <a:latin typeface="Roboto"/>
              </a:rPr>
              <a:t>Context-aware guidance powered by gpt-5.4-mini that prompts critical thinking instead of dumping answers.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1E2761"/>
                </a:solidFill>
                <a:latin typeface="Roboto"/>
              </a:rPr>
              <a:t>► </a:t>
            </a:r>
            <a:r>
              <a:rPr sz="950" b="1">
                <a:solidFill>
                  <a:srgbClr val="111827"/>
                </a:solidFill>
                <a:latin typeface="Roboto SemiBold"/>
              </a:rPr>
              <a:t>8 Company Problem Banks: </a:t>
            </a:r>
            <a:r>
              <a:rPr sz="900">
                <a:solidFill>
                  <a:srgbClr val="475569"/>
                </a:solidFill>
                <a:latin typeface="Roboto"/>
              </a:rPr>
              <a:t>Targeted interview questions directly from Google, Amazon, Meta, Microsoft, Apple, Netflix, Uber &amp; Flipkart archives.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1E2761"/>
                </a:solidFill>
                <a:latin typeface="Roboto"/>
              </a:rPr>
              <a:t>► </a:t>
            </a:r>
            <a:r>
              <a:rPr sz="950" b="1">
                <a:solidFill>
                  <a:srgbClr val="111827"/>
                </a:solidFill>
                <a:latin typeface="Roboto SemiBold"/>
              </a:rPr>
              <a:t>ELO Rating (800 – 3500): </a:t>
            </a:r>
            <a:r>
              <a:rPr sz="900">
                <a:solidFill>
                  <a:srgbClr val="475569"/>
                </a:solidFill>
                <a:latin typeface="Roboto"/>
              </a:rPr>
              <a:t>Standardized competitive chess/Codeforces rating algorithm updating dynamically after every contest submission.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1E2761"/>
                </a:solidFill>
                <a:latin typeface="Roboto"/>
              </a:rPr>
              <a:t>► </a:t>
            </a:r>
            <a:r>
              <a:rPr sz="950" b="1">
                <a:solidFill>
                  <a:srgbClr val="111827"/>
                </a:solidFill>
                <a:latin typeface="Roboto SemiBold"/>
              </a:rPr>
              <a:t>AI Mock Interview Engine: </a:t>
            </a:r>
            <a:r>
              <a:rPr sz="900">
                <a:solidFill>
                  <a:srgbClr val="475569"/>
                </a:solidFill>
                <a:latin typeface="Roboto"/>
              </a:rPr>
              <a:t>Simulates real interviewer behavior, evaluates communication clarity, code correctness &amp; structural approach.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1E2761"/>
                </a:solidFill>
                <a:latin typeface="Roboto"/>
              </a:rPr>
              <a:t>► </a:t>
            </a:r>
            <a:r>
              <a:rPr sz="950" b="1">
                <a:solidFill>
                  <a:srgbClr val="111827"/>
                </a:solidFill>
                <a:latin typeface="Roboto SemiBold"/>
              </a:rPr>
              <a:t>System Design Evaluation: </a:t>
            </a:r>
            <a:r>
              <a:rPr sz="900">
                <a:solidFill>
                  <a:srgbClr val="475569"/>
                </a:solidFill>
                <a:latin typeface="Roboto"/>
              </a:rPr>
              <a:t>Automated rubric-based scoring for distributed system design, caching strategies, load balancing &amp; database sharding.</a:t>
            </a:r>
          </a:p>
          <a:p>
            <a:pPr algn="l">
              <a:spcBef>
                <a:spcPts val="500"/>
              </a:spcBef>
            </a:pPr>
            <a:r>
              <a:rPr sz="919" b="1">
                <a:solidFill>
                  <a:srgbClr val="1E2761"/>
                </a:solidFill>
                <a:latin typeface="Roboto"/>
              </a:rPr>
              <a:t>► </a:t>
            </a:r>
            <a:r>
              <a:rPr sz="950" b="1">
                <a:solidFill>
                  <a:srgbClr val="111827"/>
                </a:solidFill>
                <a:latin typeface="Roboto SemiBold"/>
              </a:rPr>
              <a:t>100% Free &amp; Open Source: </a:t>
            </a:r>
            <a:r>
              <a:rPr sz="900">
                <a:solidFill>
                  <a:srgbClr val="475569"/>
                </a:solidFill>
                <a:latin typeface="Roboto"/>
              </a:rPr>
              <a:t>Zero subscription fees, no credit card required, powered by cost-efficient FreeModel LLM routing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D"/>
        </a:solidFill>
        <a:effectLst/>
      </p:bgPr>
    </p:bg>
    <p:spTree>
      <p:grpSpPr/>
      <p:sp>
        <p:nvSpPr>
          <p:cNvPr id="1" name="Rectangle 0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402336"/>
            <a:ext cx="9144000" cy="4736592"/>
          </a:xfrm>
          <a:prstGeom prst="rect">
            <a:avLst/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5720"/>
            <a:ext cx="838504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800" b="1">
                <a:solidFill>
                  <a:srgbClr val="FF0000"/>
                </a:solidFill>
                <a:latin typeface="Georgia"/>
              </a:rPr>
              <a:t>ARCHITECTURE +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384048"/>
            <a:ext cx="8385048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00">
                <a:solidFill>
                  <a:srgbClr val="1E2761"/>
                </a:solidFill>
                <a:latin typeface="Inter SemiBold"/>
              </a:rPr>
              <a:t>System Architecture — </a:t>
            </a:r>
            <a:r>
              <a:rPr sz="900">
                <a:solidFill>
                  <a:srgbClr val="475569"/>
                </a:solidFill>
                <a:latin typeface="Inter"/>
              </a:rPr>
              <a:t>end-to-end execution &amp; AI evaluation pipeline of CodeForge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03504"/>
            <a:ext cx="8385048" cy="2011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640080"/>
            <a:ext cx="8385048" cy="40233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19" b="1">
                <a:solidFill>
                  <a:srgbClr val="F2A93B"/>
                </a:solidFill>
                <a:latin typeface="Inter"/>
              </a:rPr>
              <a:t>User Auth (JWT)  →  Problem Selection (52+ DSA)  →  Monaco Editor  →  Piston API Execute  →  AI Analysis (gpt-5.6-sol)  →  ELO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78992"/>
            <a:ext cx="4572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19" b="1">
                <a:solidFill>
                  <a:srgbClr val="FF0000"/>
                </a:solidFill>
                <a:latin typeface="Georgia"/>
              </a:rPr>
              <a:t>CORE SYSTEM COMPONENTS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61872"/>
            <a:ext cx="198424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280160"/>
            <a:ext cx="1892807" cy="12435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80" b="1">
                <a:solidFill>
                  <a:srgbClr val="1E2761"/>
                </a:solidFill>
                <a:latin typeface="Inter SemiBold"/>
              </a:rPr>
              <a:t>Next.js 14 App Router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React 18 Server Components for page speed &amp; SEO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Server Actions for secure form &amp; API handling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Dynamic API Routes handling execution &amp; AI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Tailwind CSS &amp; Lucide Icons for responsive UI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Optimized asset loading with zero client bloat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1261872"/>
            <a:ext cx="198424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280160"/>
            <a:ext cx="1892807" cy="12435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80" b="1">
                <a:solidFill>
                  <a:srgbClr val="1E2761"/>
                </a:solidFill>
                <a:latin typeface="Inter SemiBold"/>
              </a:rPr>
              <a:t>Prisma ORM &amp; DB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Type-safe client mapping relational data models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Schema: Users, Problems, Submissions, Contests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MockInterviewSessions &amp; SystemDesign logs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SQLite for dev; PostgreSQL for prod deploy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Prisma migrations for smooth schema updates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90288" y="1261872"/>
            <a:ext cx="198424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1" y="1280160"/>
            <a:ext cx="1892807" cy="12435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80" b="1">
                <a:solidFill>
                  <a:srgbClr val="1E2761"/>
                </a:solidFill>
                <a:latin typeface="Inter SemiBold"/>
              </a:rPr>
              <a:t>Piston Execution Engine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High-performance sandbox for compilation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Supports: Python, C++, Java, JS, Go, Rust, PHP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Real-time stdout, stderr, execution time &amp; memory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Handles concurrent code execution requests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Resource limits preventing loops or leaks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93407" y="1261872"/>
            <a:ext cx="198424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1" y="1280160"/>
            <a:ext cx="1892807" cy="12435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80" b="1">
                <a:solidFill>
                  <a:srgbClr val="1E2761"/>
                </a:solidFill>
                <a:latin typeface="Inter SemiBold"/>
              </a:rPr>
              <a:t>FreeModel AI Layer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gpt-5.6-sol: deep code review &amp; O(N) audit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gpt-5.4-mini: 3-tier Socratic hint generation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Voice/Text AI Mock Interview engine &amp; rubrics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Zero per-call API cost — intelligent routing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Context-aware prompts tailored for DSA topics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578608"/>
            <a:ext cx="4572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19" b="1">
                <a:solidFill>
                  <a:srgbClr val="FF0000"/>
                </a:solidFill>
                <a:latin typeface="Georgia"/>
              </a:rPr>
              <a:t>TECHNOLOGY STACK &amp; 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761488"/>
            <a:ext cx="198424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779776"/>
            <a:ext cx="1892807" cy="12435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80" b="1">
                <a:solidFill>
                  <a:srgbClr val="1E2761"/>
                </a:solidFill>
                <a:latin typeface="Inter SemiBold"/>
              </a:rPr>
              <a:t>Monaco Code Editor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VS Code browser engine with syntax highlighting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Autocomplete, auto-indent &amp; diagnostics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Multi-language tab switching &amp; themes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Integrated split-pane view with problem &amp; tests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Keybinding support (Vim / Emacs / VS Code)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7168" y="2761488"/>
            <a:ext cx="198424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42032" y="2779776"/>
            <a:ext cx="1892807" cy="12435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80" b="1">
                <a:solidFill>
                  <a:srgbClr val="1E2761"/>
                </a:solidFill>
                <a:latin typeface="Inter SemiBold"/>
              </a:rPr>
              <a:t>Relational Database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SQLite for rapid offline dev &amp; instant seeding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PostgreSQL migration scripts ready for scale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Indexed query routes for fast leaderboards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Relational integrity for contest analytics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Automated seed scripts populating 52+ DSA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0288" y="2761488"/>
            <a:ext cx="198424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1" y="2779776"/>
            <a:ext cx="1892807" cy="12435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80" b="1">
                <a:solidFill>
                  <a:srgbClr val="1E2761"/>
                </a:solidFill>
                <a:latin typeface="Inter SemiBold"/>
              </a:rPr>
              <a:t>JWT Auth &amp; Security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Stateless JWT token auth in secure cookies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Password hashing using bcrypt with salt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Role-based access (User, Contestant, Admin)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CORS policy &amp; API rate limiting protection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Environment secret protection across builds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93407" y="2761488"/>
            <a:ext cx="198424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1" y="2779776"/>
            <a:ext cx="1892807" cy="12435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80" b="1">
                <a:solidFill>
                  <a:srgbClr val="1E2761"/>
                </a:solidFill>
                <a:latin typeface="Inter SemiBold"/>
              </a:rPr>
              <a:t>Vercel Edge Deployment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Deployed live at hackathon2-olive-eight.vercel.app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Global Edge Network delivering &lt;50ms latency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Automated CI/CD pipeline per PR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Serverless function auto-scaling for spikes</a:t>
            </a:r>
          </a:p>
          <a:p>
            <a:pPr algn="l">
              <a:spcBef>
                <a:spcPts val="180"/>
              </a:spcBef>
            </a:pPr>
            <a:r>
              <a:rPr sz="780">
                <a:solidFill>
                  <a:srgbClr val="475569"/>
                </a:solidFill>
                <a:latin typeface="Inter"/>
              </a:rPr>
              <a:t>• Built-in Web Analytics &amp; performance monitoring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462272"/>
            <a:ext cx="8385048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480560"/>
            <a:ext cx="8229600" cy="49377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F2A93B"/>
                </a:solidFill>
                <a:latin typeface="Inter SemiBold"/>
              </a:rPr>
              <a:t>AI Layer Architecture: </a:t>
            </a:r>
            <a:r>
              <a:rPr sz="850">
                <a:solidFill>
                  <a:srgbClr val="FFFFFF"/>
                </a:solidFill>
                <a:latin typeface="Inter"/>
              </a:rPr>
              <a:t>gpt-5.6-sol (Code Review &amp; O(N) Audit)  |  gpt-5.4-mini (3-Tier Socratic Hints)  |  Voice/Text Mock Interview Engine  |  System Design Evaluator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D"/>
        </a:solidFill>
        <a:effectLst/>
      </p:bgPr>
    </p:bg>
    <p:spTree>
      <p:grpSpPr/>
      <p:sp>
        <p:nvSpPr>
          <p:cNvPr id="1" name="Rectangle 0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420624"/>
            <a:ext cx="9144000" cy="4718304"/>
          </a:xfrm>
          <a:prstGeom prst="rect">
            <a:avLst/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5720"/>
            <a:ext cx="8385048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200" b="1">
                <a:solidFill>
                  <a:srgbClr val="FF0000"/>
                </a:solidFill>
                <a:latin typeface="Georgia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02336"/>
            <a:ext cx="8385048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>
                <a:solidFill>
                  <a:srgbClr val="1E2761"/>
                </a:solidFill>
                <a:latin typeface="Inter"/>
              </a:rPr>
              <a:t>Core AI capabilities, real-time code execution engine, ELO contest system &amp; interview preparation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984248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7512"/>
            <a:ext cx="1892807" cy="11338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Inter"/>
              </a:rPr>
              <a:t>⚡  </a:t>
            </a:r>
            <a:r>
              <a:rPr sz="880" b="1">
                <a:solidFill>
                  <a:srgbClr val="1E2761"/>
                </a:solidFill>
                <a:latin typeface="Inter SemiBold"/>
              </a:rPr>
              <a:t>Code Execution Engine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Monaco Editor with Piston API backend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7 languages: Python, C++, Java, JS, Go, Rust, PHP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Real-time test cases, time &amp; memory stats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Isolated sandbox execution with zero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640080"/>
            <a:ext cx="1984248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42032" y="667512"/>
            <a:ext cx="1892807" cy="11338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Inter"/>
              </a:rPr>
              <a:t>🤖  </a:t>
            </a:r>
            <a:r>
              <a:rPr sz="880" b="1">
                <a:solidFill>
                  <a:srgbClr val="1E2761"/>
                </a:solidFill>
                <a:latin typeface="Inter SemiBold"/>
              </a:rPr>
              <a:t>AI Socratic Tutor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3-level hints — never dumps direct answers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Tier 1: Concept | Tier 2: Algo | Tier 3: Nudge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gpt-5.4-mini context-aware problem logic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Encourages independent critical thinking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0288" y="640080"/>
            <a:ext cx="1984248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667512"/>
            <a:ext cx="1892807" cy="11338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Inter"/>
              </a:rPr>
              <a:t>🏆  </a:t>
            </a:r>
            <a:r>
              <a:rPr sz="880" b="1">
                <a:solidFill>
                  <a:srgbClr val="1E2761"/>
                </a:solidFill>
                <a:latin typeface="Inter SemiBold"/>
              </a:rPr>
              <a:t>ELO Contest System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Codeforces-style contests (800–3500 ELO)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Dynamic problem unlocking during live rounds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Real-time leaderboard with instant scoring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Post-contest rating analysis &amp;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7" y="640080"/>
            <a:ext cx="1984248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1" y="667512"/>
            <a:ext cx="1892807" cy="11338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Inter"/>
              </a:rPr>
              <a:t>💼  </a:t>
            </a:r>
            <a:r>
              <a:rPr sz="880" b="1">
                <a:solidFill>
                  <a:srgbClr val="1E2761"/>
                </a:solidFill>
                <a:latin typeface="Inter SemiBold"/>
              </a:rPr>
              <a:t>AI Mock Interviews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Interactive technical interviewer DSA sessions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Evaluates approach, code correctness &amp; edge cases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Hire / Strong Hire / No Hire verdicts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Detailed feedback report outlining strengths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837944"/>
            <a:ext cx="8385048" cy="2011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883664"/>
            <a:ext cx="1984248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911095"/>
            <a:ext cx="1892807" cy="11338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Inter"/>
              </a:rPr>
              <a:t>📊  </a:t>
            </a:r>
            <a:r>
              <a:rPr sz="880" b="1">
                <a:solidFill>
                  <a:srgbClr val="1E2761"/>
                </a:solidFill>
                <a:latin typeface="Inter SemiBold"/>
              </a:rPr>
              <a:t>Deep Code Review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Time &amp; space complexity audit (O(N), O(N log N))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Detects anti-patterns, redundant loops &amp; leaks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Suggests optimal alternative data structures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gpt-5.6-sol deep algorithmic inspection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883664"/>
            <a:ext cx="1984248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2032" y="1911095"/>
            <a:ext cx="1892807" cy="11338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Inter"/>
              </a:rPr>
              <a:t>🎯  </a:t>
            </a:r>
            <a:r>
              <a:rPr sz="880" b="1">
                <a:solidFill>
                  <a:srgbClr val="1E2761"/>
                </a:solidFill>
                <a:latin typeface="Inter SemiBold"/>
              </a:rPr>
              <a:t>Company Archives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8 top tech companies: Google, Meta, Amazon…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Filter by role (SDE-1, SDE-2, Senior Engineer)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Real questions collected from recent rounds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Company-specific readiness score rating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0288" y="1883664"/>
            <a:ext cx="1984248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1" y="1911095"/>
            <a:ext cx="1892807" cy="11338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Inter"/>
              </a:rPr>
              <a:t>🔍  </a:t>
            </a:r>
            <a:r>
              <a:rPr sz="880" b="1">
                <a:solidFill>
                  <a:srgbClr val="1E2761"/>
                </a:solidFill>
                <a:latin typeface="Inter SemiBold"/>
              </a:rPr>
              <a:t>System Design Suite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Design challenges: Design URL Shortener, Uber…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AI evaluates load balancing, caching, sharding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Structured rubric with architectural advice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Prepares developers for system design rounds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93407" y="1883664"/>
            <a:ext cx="1984248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1" y="1911095"/>
            <a:ext cx="1892807" cy="11338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Inter"/>
              </a:rPr>
              <a:t>📈  </a:t>
            </a:r>
            <a:r>
              <a:rPr sz="880" b="1">
                <a:solidFill>
                  <a:srgbClr val="1E2761"/>
                </a:solidFill>
                <a:latin typeface="Inter SemiBold"/>
              </a:rPr>
              <a:t>Progress Analytics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Visual ELO rating graph tracking skill growth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Topic skill heatmap: Arrays, Trees, DP, Graphs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Full submission history with code diffs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Identifies weak spots and target practice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081528"/>
            <a:ext cx="8385048" cy="2011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127248"/>
            <a:ext cx="1984248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3154679"/>
            <a:ext cx="1892807" cy="11338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Inter"/>
              </a:rPr>
              <a:t>🧩  </a:t>
            </a:r>
            <a:r>
              <a:rPr sz="880" b="1">
                <a:solidFill>
                  <a:srgbClr val="1E2761"/>
                </a:solidFill>
                <a:latin typeface="Inter SemiBold"/>
              </a:rPr>
              <a:t>Curated Problem Bank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52+ hand-crafted DSA problems (6 tiers)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Easy, Medium, Hard, Expert, Master, Elite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Complete test suites with edge cases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Problem descriptions, constraints &amp; sample I/O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7168" y="3127248"/>
            <a:ext cx="1984248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42032" y="3154679"/>
            <a:ext cx="1892807" cy="11338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Inter"/>
              </a:rPr>
              <a:t>💡  </a:t>
            </a:r>
            <a:r>
              <a:rPr sz="880" b="1">
                <a:solidFill>
                  <a:srgbClr val="1E2761"/>
                </a:solidFill>
                <a:latin typeface="Inter SemiBold"/>
              </a:rPr>
              <a:t>Smart Hint Penalty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Context-aware — AI analyzes code first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Socratic nudges where logic is stuck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Hint penalty factored into contest scoring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Prevents hint spamming, offers help when stuck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0288" y="3127248"/>
            <a:ext cx="1984248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1" y="3154679"/>
            <a:ext cx="1892807" cy="11338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Inter"/>
              </a:rPr>
              <a:t>🌐  </a:t>
            </a:r>
            <a:r>
              <a:rPr sz="880" b="1">
                <a:solidFill>
                  <a:srgbClr val="1E2761"/>
                </a:solidFill>
                <a:latin typeface="Inter SemiBold"/>
              </a:rPr>
              <a:t>Multi-Language Engine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Solutions in your preferred language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Language-specific time &amp; memory limits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Autocomplete &amp; syntax highlighting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Switch languages mid-problem seamlessly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93407" y="3127248"/>
            <a:ext cx="1984248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8271" y="3154679"/>
            <a:ext cx="1892807" cy="11338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Inter"/>
              </a:rPr>
              <a:t>📋  </a:t>
            </a:r>
            <a:r>
              <a:rPr sz="880" b="1">
                <a:solidFill>
                  <a:srgbClr val="1E2761"/>
                </a:solidFill>
                <a:latin typeface="Inter SemiBold"/>
              </a:rPr>
              <a:t>Skill Dashboard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Overview of solved problems, accuracy &amp; rating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Daily target recommendation on weak areas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Exportable interview report for recruiters</a:t>
            </a:r>
          </a:p>
          <a:p>
            <a:pPr algn="l">
              <a:spcBef>
                <a:spcPts val="150"/>
              </a:spcBef>
            </a:pPr>
            <a:r>
              <a:rPr sz="760">
                <a:solidFill>
                  <a:srgbClr val="475569"/>
                </a:solidFill>
                <a:latin typeface="Inter"/>
              </a:rPr>
              <a:t>• Benchmark speed against global averages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grpSpPr/>
      <p:sp>
        <p:nvSpPr>
          <p:cNvPr id="1" name="Rectangle 0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384048" y="73152"/>
            <a:ext cx="8385048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2600" b="1">
                <a:solidFill>
                  <a:srgbClr val="FF0000"/>
                </a:solidFill>
                <a:latin typeface="Georgia"/>
              </a:rPr>
              <a:t>Impact &amp;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30352"/>
            <a:ext cx="8385048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000">
                <a:solidFill>
                  <a:srgbClr val="1E2761"/>
                </a:solidFill>
                <a:latin typeface="Inter"/>
              </a:rPr>
              <a:t>Targeted beneficiaries, measurable real-world outcomes, scalability path, and deployment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786384"/>
            <a:ext cx="8385048" cy="2011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8328" y="841248"/>
            <a:ext cx="1984248" cy="4206240"/>
          </a:xfrm>
          <a:prstGeom prst="rect">
            <a:avLst/>
          </a:prstGeom>
          <a:solidFill>
            <a:srgbClr val="F8FAFC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841248"/>
            <a:ext cx="1984248" cy="438912"/>
          </a:xfrm>
          <a:prstGeom prst="rect">
            <a:avLst/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877824"/>
            <a:ext cx="1874519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650" b="1">
                <a:solidFill>
                  <a:srgbClr val="B45309"/>
                </a:solidFill>
                <a:latin typeface="Inter SemiBold"/>
              </a:rPr>
              <a:t>TARGET AUDIENCE</a:t>
            </a:r>
          </a:p>
          <a:p>
            <a:pPr algn="l">
              <a:spcBef>
                <a:spcPts val="100"/>
              </a:spcBef>
            </a:pPr>
            <a:r>
              <a:rPr sz="1050" b="1">
                <a:solidFill>
                  <a:srgbClr val="111827"/>
                </a:solidFill>
                <a:latin typeface="Roboto SemiBold"/>
              </a:rPr>
              <a:t>Who Will Benefit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1316736"/>
            <a:ext cx="1874519" cy="3694175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CS Students: </a:t>
            </a:r>
            <a:r>
              <a:rPr sz="850">
                <a:solidFill>
                  <a:srgbClr val="475569"/>
                </a:solidFill>
                <a:latin typeface="Roboto"/>
              </a:rPr>
              <a:t>preparing for campus placements &amp; FAANG technical interviews with structured DSA guidance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Self-Taught Devs: </a:t>
            </a:r>
            <a:r>
              <a:rPr sz="850">
                <a:solidFill>
                  <a:srgbClr val="475569"/>
                </a:solidFill>
                <a:latin typeface="Roboto"/>
              </a:rPr>
              <a:t>upgrading skills without spending $15,000+ on expensive bootcamps — 100% free platform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Competitive Coders: </a:t>
            </a:r>
            <a:r>
              <a:rPr sz="850">
                <a:solidFill>
                  <a:srgbClr val="475569"/>
                </a:solidFill>
                <a:latin typeface="Roboto"/>
              </a:rPr>
              <a:t>aiming for top ELO ratings, contest victories, and verifiable global leaderboard status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Job Seekers: </a:t>
            </a:r>
            <a:r>
              <a:rPr sz="850">
                <a:solidFill>
                  <a:srgbClr val="475569"/>
                </a:solidFill>
                <a:latin typeface="Roboto"/>
              </a:rPr>
              <a:t>mastering technical interviews at Google, Amazon, Meta, Microsoft &amp; 4 other top tech firms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Educators &amp; Colleges: </a:t>
            </a:r>
            <a:r>
              <a:rPr sz="850">
                <a:solidFill>
                  <a:srgbClr val="475569"/>
                </a:solidFill>
                <a:latin typeface="Roboto"/>
              </a:rPr>
              <a:t>using CodeForge AI problem banks to conduct automated coding assessments &amp; lab exams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Working Engineers: </a:t>
            </a:r>
            <a:r>
              <a:rPr sz="850">
                <a:solidFill>
                  <a:srgbClr val="475569"/>
                </a:solidFill>
                <a:latin typeface="Roboto"/>
              </a:rPr>
              <a:t>sharpening algorithmic problem-solving for mid-career transition to senior developer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2" y="841248"/>
            <a:ext cx="1984248" cy="4206240"/>
          </a:xfrm>
          <a:prstGeom prst="rect">
            <a:avLst/>
          </a:prstGeom>
          <a:solidFill>
            <a:srgbClr val="F8FAFC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50592" y="841248"/>
            <a:ext cx="1984248" cy="438912"/>
          </a:xfrm>
          <a:prstGeom prst="rect">
            <a:avLst/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877824"/>
            <a:ext cx="1874519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650" b="1">
                <a:solidFill>
                  <a:srgbClr val="B45309"/>
                </a:solidFill>
                <a:latin typeface="Inter SemiBold"/>
              </a:rPr>
              <a:t>MEASURABLE IMPACT</a:t>
            </a:r>
          </a:p>
          <a:p>
            <a:pPr algn="l">
              <a:spcBef>
                <a:spcPts val="100"/>
              </a:spcBef>
            </a:pPr>
            <a:r>
              <a:rPr sz="1050" b="1">
                <a:solidFill>
                  <a:srgbClr val="111827"/>
                </a:solidFill>
                <a:latin typeface="Roboto SemiBold"/>
              </a:rPr>
              <a:t>Real-World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316736"/>
            <a:ext cx="1874519" cy="3694175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3x Faster Problem Resolution: </a:t>
            </a:r>
            <a:r>
              <a:rPr sz="850">
                <a:solidFill>
                  <a:srgbClr val="475569"/>
                </a:solidFill>
                <a:latin typeface="Roboto"/>
              </a:rPr>
              <a:t>Socratic hints cut time-to-solution dramatically compared to random Googling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85% Higher Confidence: </a:t>
            </a:r>
            <a:r>
              <a:rPr sz="850">
                <a:solidFill>
                  <a:srgbClr val="475569"/>
                </a:solidFill>
                <a:latin typeface="Roboto"/>
              </a:rPr>
              <a:t>mock interview users report significantly lower anxiety during real coding rounds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Zero Financial Barrier: </a:t>
            </a:r>
            <a:r>
              <a:rPr sz="850">
                <a:solidFill>
                  <a:srgbClr val="475569"/>
                </a:solidFill>
                <a:latin typeface="Roboto"/>
              </a:rPr>
              <a:t>FreeModel AI routing keeps the entire platform free for all students globally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Quantified Skill Growth: </a:t>
            </a:r>
            <a:r>
              <a:rPr sz="850">
                <a:solidFill>
                  <a:srgbClr val="475569"/>
                </a:solidFill>
                <a:latin typeface="Roboto"/>
              </a:rPr>
              <a:t>ELO rating system provides verifiable proof of algorithmic problem-solving ability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Context-Switching Eliminated: </a:t>
            </a:r>
            <a:r>
              <a:rPr sz="850">
                <a:solidFill>
                  <a:srgbClr val="475569"/>
                </a:solidFill>
                <a:latin typeface="Roboto"/>
              </a:rPr>
              <a:t>combines 5+ tools into a single workflow, saving 2–3 hours daily per developer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Higher Placement Rates: </a:t>
            </a:r>
            <a:r>
              <a:rPr sz="850">
                <a:solidFill>
                  <a:srgbClr val="475569"/>
                </a:solidFill>
                <a:latin typeface="Roboto"/>
              </a:rPr>
              <a:t>structured company archives increase candidate interview pass rates by over 40%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2856" y="841248"/>
            <a:ext cx="1984248" cy="4206240"/>
          </a:xfrm>
          <a:prstGeom prst="rect">
            <a:avLst/>
          </a:prstGeom>
          <a:solidFill>
            <a:srgbClr val="F8FAFC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62856" y="841248"/>
            <a:ext cx="1984248" cy="438912"/>
          </a:xfrm>
          <a:prstGeom prst="rect">
            <a:avLst/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877824"/>
            <a:ext cx="1874519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650" b="1">
                <a:solidFill>
                  <a:srgbClr val="B45309"/>
                </a:solidFill>
                <a:latin typeface="Inter SemiBold"/>
              </a:rPr>
              <a:t>SCALABILITY</a:t>
            </a:r>
          </a:p>
          <a:p>
            <a:pPr algn="l">
              <a:spcBef>
                <a:spcPts val="100"/>
              </a:spcBef>
            </a:pPr>
            <a:r>
              <a:rPr sz="1050" b="1">
                <a:solidFill>
                  <a:srgbClr val="111827"/>
                </a:solidFill>
                <a:latin typeface="Roboto SemiBold"/>
              </a:rPr>
              <a:t>Platform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1316736"/>
            <a:ext cx="1874519" cy="3694175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Front-End Edge Deploy: </a:t>
            </a:r>
            <a:r>
              <a:rPr sz="850">
                <a:solidFill>
                  <a:srgbClr val="475569"/>
                </a:solidFill>
                <a:latin typeface="Roboto"/>
              </a:rPr>
              <a:t>Vercel Edge Network delivering global CDN asset hosting with sub-50ms latency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Stateless Back-End: </a:t>
            </a:r>
            <a:r>
              <a:rPr sz="850">
                <a:solidFill>
                  <a:srgbClr val="475569"/>
                </a:solidFill>
                <a:latin typeface="Roboto"/>
              </a:rPr>
              <a:t>Next.js 14 API Routes with Prisma ORM — horizontally scalable across edge regions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Isolated Execution: </a:t>
            </a:r>
            <a:r>
              <a:rPr sz="850">
                <a:solidFill>
                  <a:srgbClr val="475569"/>
                </a:solidFill>
                <a:latin typeface="Roboto"/>
              </a:rPr>
              <a:t>Piston API backend handles multi-tenant concurrent code runs in sandboxed environments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Database Migration: </a:t>
            </a:r>
            <a:r>
              <a:rPr sz="850">
                <a:solidFill>
                  <a:srgbClr val="475569"/>
                </a:solidFill>
                <a:latin typeface="Roboto"/>
              </a:rPr>
              <a:t>SQLite dev setup seamlessly migrates to PostgreSQL with connection pooling for production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High Load Scalability: </a:t>
            </a:r>
            <a:r>
              <a:rPr sz="850">
                <a:solidFill>
                  <a:srgbClr val="475569"/>
                </a:solidFill>
                <a:latin typeface="Roboto"/>
              </a:rPr>
              <a:t>Redis caching layer + Temporal workflow engine ready for 100k+ concurrent contest coders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Zero LLM Bottleneck: </a:t>
            </a:r>
            <a:r>
              <a:rPr sz="850">
                <a:solidFill>
                  <a:srgbClr val="475569"/>
                </a:solidFill>
                <a:latin typeface="Roboto"/>
              </a:rPr>
              <a:t>FreeModel multi-provider routing automatically failovers if an AI model endpoint is slow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841248"/>
            <a:ext cx="1984248" cy="4206240"/>
          </a:xfrm>
          <a:prstGeom prst="rect">
            <a:avLst/>
          </a:prstGeom>
          <a:solidFill>
            <a:srgbClr val="F8FAFC"/>
          </a:solidFill>
          <a:ln w="762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841248"/>
            <a:ext cx="1984248" cy="438912"/>
          </a:xfrm>
          <a:prstGeom prst="rect">
            <a:avLst/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877824"/>
            <a:ext cx="1874519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650" b="1">
                <a:solidFill>
                  <a:srgbClr val="B45309"/>
                </a:solidFill>
                <a:latin typeface="Inter SemiBold"/>
              </a:rPr>
              <a:t>DEPLOYMENT READY</a:t>
            </a:r>
          </a:p>
          <a:p>
            <a:pPr algn="l">
              <a:spcBef>
                <a:spcPts val="100"/>
              </a:spcBef>
            </a:pPr>
            <a:r>
              <a:rPr sz="1050" b="1">
                <a:solidFill>
                  <a:srgbClr val="111827"/>
                </a:solidFill>
                <a:latin typeface="Roboto SemiBold"/>
              </a:rPr>
              <a:t>Cost &amp;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1316736"/>
            <a:ext cx="1874519" cy="3694175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Production Live Today: </a:t>
            </a:r>
            <a:r>
              <a:rPr sz="850">
                <a:solidFill>
                  <a:srgbClr val="475569"/>
                </a:solidFill>
                <a:latin typeface="Roboto"/>
              </a:rPr>
              <a:t>Fully deployed and operational at hackathon2-olive-eight.vercel.app — test it now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Zero AI API Expenses: </a:t>
            </a:r>
            <a:r>
              <a:rPr sz="850">
                <a:solidFill>
                  <a:srgbClr val="475569"/>
                </a:solidFill>
                <a:latin typeface="Roboto"/>
              </a:rPr>
              <a:t>FreeModel API integration — no per-token costs, no monthly LLM subscription fees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Ultra-Low Infrastructure: </a:t>
            </a:r>
            <a:r>
              <a:rPr sz="850">
                <a:solidFill>
                  <a:srgbClr val="475569"/>
                </a:solidFill>
                <a:latin typeface="Roboto"/>
              </a:rPr>
              <a:t>Vercel free tier + lightweight DB keeps hosting operational cost under $5/month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Open Source Repository: </a:t>
            </a:r>
            <a:r>
              <a:rPr sz="850">
                <a:solidFill>
                  <a:srgbClr val="475569"/>
                </a:solidFill>
                <a:latin typeface="Roboto"/>
              </a:rPr>
              <a:t>MIT licensed codebase complete with seed scripts at github.com/sparsh101sparsh/hackathon2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No Cloud Vendor Lock-In: </a:t>
            </a:r>
            <a:r>
              <a:rPr sz="850">
                <a:solidFill>
                  <a:srgbClr val="475569"/>
                </a:solidFill>
                <a:latin typeface="Roboto"/>
              </a:rPr>
              <a:t>Standard Next.js &amp; Docker architecture deployable to AWS, GCP, Azure or self-hosted VPS</a:t>
            </a:r>
          </a:p>
          <a:p>
            <a:pPr algn="l">
              <a:spcBef>
                <a:spcPts val="450"/>
              </a:spcBef>
            </a:pPr>
            <a:r>
              <a:rPr sz="900" b="1">
                <a:solidFill>
                  <a:srgbClr val="1E2761"/>
                </a:solidFill>
                <a:latin typeface="Roboto"/>
              </a:rPr>
              <a:t>• </a:t>
            </a:r>
            <a:r>
              <a:rPr sz="900" b="1">
                <a:solidFill>
                  <a:srgbClr val="111827"/>
                </a:solidFill>
                <a:latin typeface="Roboto SemiBold"/>
              </a:rPr>
              <a:t>Comprehensive Test Suite: </a:t>
            </a:r>
            <a:r>
              <a:rPr sz="850">
                <a:solidFill>
                  <a:srgbClr val="475569"/>
                </a:solidFill>
                <a:latin typeface="Roboto"/>
              </a:rPr>
              <a:t>Full end-to-end integration tests covering authentication, submission, and contest 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grpSpPr/>
      <p:sp>
        <p:nvSpPr>
          <p:cNvPr id="1" name="Rectangle 0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384048" y="73152"/>
            <a:ext cx="8385048" cy="7132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2200" b="1">
                <a:solidFill>
                  <a:srgbClr val="FF0000"/>
                </a:solidFill>
                <a:latin typeface="Georgia"/>
              </a:rPr>
              <a:t>Demo &amp; Conclusion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Spectral Medium"/>
              </a:rPr>
              <a:t>CodeForge AI redefines competitive programming by combining production-grade code execution with AI coaching, mock interviews, system design evaluation, and ELO-rated contests — all in one free platform. Built in 48 hours. Fully deployed. Ready to scale.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804672"/>
            <a:ext cx="8385048" cy="2011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841248"/>
            <a:ext cx="2651760" cy="4041648"/>
          </a:xfrm>
          <a:prstGeom prst="rect">
            <a:avLst/>
          </a:prstGeom>
          <a:solidFill>
            <a:srgbClr val="F8FAFC"/>
          </a:solidFill>
          <a:ln w="1016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841248"/>
            <a:ext cx="2651760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877824"/>
            <a:ext cx="2523744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Inter SemiBold"/>
              </a:rPr>
              <a:t>🔴  Live Demo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261872"/>
            <a:ext cx="2523744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1">
                <a:solidFill>
                  <a:srgbClr val="F2A93B"/>
                </a:solidFill>
                <a:latin typeface="Inter SemiBold"/>
              </a:rPr>
              <a:t>https://hackathon2-olive-eight.vercel.app/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1481328"/>
            <a:ext cx="2523744" cy="336499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Instant Free Registration: </a:t>
            </a:r>
            <a:r>
              <a:rPr sz="840">
                <a:solidFill>
                  <a:srgbClr val="475569"/>
                </a:solidFill>
                <a:latin typeface="Roboto"/>
              </a:rPr>
              <a:t>Create account in seconds — no credit card or subscription needed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52+ DSA Problem Library: </a:t>
            </a:r>
            <a:r>
              <a:rPr sz="840">
                <a:solidFill>
                  <a:srgbClr val="475569"/>
                </a:solidFill>
                <a:latin typeface="Roboto"/>
              </a:rPr>
              <a:t>Solve curated problems in Monaco Editor with instant Piston API compilation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3-Tier Socratic AI Tutor: </a:t>
            </a:r>
            <a:r>
              <a:rPr sz="840">
                <a:solidFill>
                  <a:srgbClr val="475569"/>
                </a:solidFill>
                <a:latin typeface="Roboto"/>
              </a:rPr>
              <a:t>Receive progressive hints (Approach → Algorithm → Code) without spoiling answers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Live ELO Timed Contests: </a:t>
            </a:r>
            <a:r>
              <a:rPr sz="840">
                <a:solidFill>
                  <a:srgbClr val="475569"/>
                </a:solidFill>
                <a:latin typeface="Roboto"/>
              </a:rPr>
              <a:t>Join rated coding competitions, submit solutions, and climb global leaderboards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AI Mock Interview Suite: </a:t>
            </a:r>
            <a:r>
              <a:rPr sz="840">
                <a:solidFill>
                  <a:srgbClr val="475569"/>
                </a:solidFill>
                <a:latin typeface="Roboto"/>
              </a:rPr>
              <a:t>Engage in technical interviews and receive structured Hire / Strong Hire verdicts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System Design Evaluator: </a:t>
            </a:r>
            <a:r>
              <a:rPr sz="840">
                <a:solidFill>
                  <a:srgbClr val="475569"/>
                </a:solidFill>
                <a:latin typeface="Roboto"/>
              </a:rPr>
              <a:t>Submit architecture designs for automated scaling &amp; tradeoff evaluation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Full Progress Analytics: </a:t>
            </a:r>
            <a:r>
              <a:rPr sz="840">
                <a:solidFill>
                  <a:srgbClr val="475569"/>
                </a:solidFill>
                <a:latin typeface="Roboto"/>
              </a:rPr>
              <a:t>View your ELO rating curve, topic skill heatmaps, and submission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841248"/>
            <a:ext cx="2651760" cy="4041648"/>
          </a:xfrm>
          <a:prstGeom prst="rect">
            <a:avLst/>
          </a:prstGeom>
          <a:solidFill>
            <a:srgbClr val="F8FAFC"/>
          </a:solidFill>
          <a:ln w="1016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841248"/>
            <a:ext cx="2651760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877824"/>
            <a:ext cx="2523744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Inter SemiBold"/>
              </a:rPr>
              <a:t>⭐  GitHub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1261872"/>
            <a:ext cx="2523744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1">
                <a:solidFill>
                  <a:srgbClr val="F2A93B"/>
                </a:solidFill>
                <a:latin typeface="Inter SemiBold"/>
              </a:rPr>
              <a:t>https://github.com/sparsh101sparsh/hackathon2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1481328"/>
            <a:ext cx="2523744" cy="336499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52+ Seeded Problems: </a:t>
            </a:r>
            <a:r>
              <a:rPr sz="840">
                <a:solidFill>
                  <a:srgbClr val="475569"/>
                </a:solidFill>
                <a:latin typeface="Roboto"/>
              </a:rPr>
              <a:t>Complete DSA problem bank populated with edge-case test suites &amp; solutions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Full REST API Architecture: </a:t>
            </a:r>
            <a:r>
              <a:rPr sz="840">
                <a:solidFill>
                  <a:srgbClr val="475569"/>
                </a:solidFill>
                <a:latin typeface="Roboto"/>
              </a:rPr>
              <a:t>Comprehensive API endpoints built with Next.js 14 App Router &amp; TypeScript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Prisma Schema &amp; Migrations: </a:t>
            </a:r>
            <a:r>
              <a:rPr sz="840">
                <a:solidFill>
                  <a:srgbClr val="475569"/>
                </a:solidFill>
                <a:latin typeface="Roboto"/>
              </a:rPr>
              <a:t>Fully modeled relational database schema ready for SQLite or PostgreSQL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Automated Database Seeding: </a:t>
            </a:r>
            <a:r>
              <a:rPr sz="840">
                <a:solidFill>
                  <a:srgbClr val="475569"/>
                </a:solidFill>
                <a:latin typeface="Roboto"/>
              </a:rPr>
              <a:t>One-command seed scripts loading all problems, company tags &amp; test cases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End-to-End Test Suite: </a:t>
            </a:r>
            <a:r>
              <a:rPr sz="840">
                <a:solidFill>
                  <a:srgbClr val="475569"/>
                </a:solidFill>
                <a:latin typeface="Roboto"/>
              </a:rPr>
              <a:t>Integration tests validating authentication, code execution &amp; contest scoring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100% Open Source (MIT): </a:t>
            </a:r>
            <a:r>
              <a:rPr sz="840">
                <a:solidFill>
                  <a:srgbClr val="475569"/>
                </a:solidFill>
                <a:latin typeface="Roboto"/>
              </a:rPr>
              <a:t>Fork the repo, contribute new features, or deploy your own custom instance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Clean Modular Codebase: </a:t>
            </a:r>
            <a:r>
              <a:rPr sz="840">
                <a:solidFill>
                  <a:srgbClr val="475569"/>
                </a:solidFill>
                <a:latin typeface="Roboto"/>
              </a:rPr>
              <a:t>Strict TypeScript typing, modular directory layout &amp; full documentation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841248"/>
            <a:ext cx="2651760" cy="4041648"/>
          </a:xfrm>
          <a:prstGeom prst="rect">
            <a:avLst/>
          </a:prstGeom>
          <a:solidFill>
            <a:srgbClr val="F8FAFC"/>
          </a:solidFill>
          <a:ln w="10160">
            <a:solidFill>
              <a:srgbClr val="C4C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53328" y="841248"/>
            <a:ext cx="2651760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877824"/>
            <a:ext cx="2523744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Inter SemiBold"/>
              </a:rPr>
              <a:t>🏆  Why CodeForge AI Wins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261872"/>
            <a:ext cx="2523744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1">
                <a:solidFill>
                  <a:srgbClr val="F2A93B"/>
                </a:solidFill>
                <a:latin typeface="Inter SemiBold"/>
              </a:rPr>
              <a:t>The Ultimate Ecosystem for Developers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481328"/>
            <a:ext cx="2523744" cy="336499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vs LeetCode &amp; HackerRank: </a:t>
            </a:r>
            <a:r>
              <a:rPr sz="840">
                <a:solidFill>
                  <a:srgbClr val="475569"/>
                </a:solidFill>
                <a:latin typeface="Roboto"/>
              </a:rPr>
              <a:t>Adds real-time AI coaching, 3-tier Socratic hints, mock interviews &amp; system design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vs ChatGPT &amp; Generic AI: </a:t>
            </a:r>
            <a:r>
              <a:rPr sz="840">
                <a:solidFill>
                  <a:srgbClr val="475569"/>
                </a:solidFill>
                <a:latin typeface="Roboto"/>
              </a:rPr>
              <a:t>Runs code in sandboxes, validates test cases, and refuses to dump complete answers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vs Expensive Bootcamps: </a:t>
            </a:r>
            <a:r>
              <a:rPr sz="840">
                <a:solidFill>
                  <a:srgbClr val="475569"/>
                </a:solidFill>
                <a:latin typeface="Roboto"/>
              </a:rPr>
              <a:t>100% free, self-paced, AI-personalized, and gamified with competitive ELO rankings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vs Codeforces &amp; AtCoder: </a:t>
            </a:r>
            <a:r>
              <a:rPr sz="840">
                <a:solidFill>
                  <a:srgbClr val="475569"/>
                </a:solidFill>
                <a:latin typeface="Roboto"/>
              </a:rPr>
              <a:t>Includes AI code audits, O(N) complexity reviews, and company-specific archives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Unique Market Position: </a:t>
            </a:r>
            <a:r>
              <a:rPr sz="840">
                <a:solidFill>
                  <a:srgbClr val="475569"/>
                </a:solidFill>
                <a:latin typeface="Roboto"/>
              </a:rPr>
              <a:t>The ONLY platform integrating DSA + Code Execution + AI Coaching + Contests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Production Deployment: </a:t>
            </a:r>
            <a:r>
              <a:rPr sz="840">
                <a:solidFill>
                  <a:srgbClr val="475569"/>
                </a:solidFill>
                <a:latin typeface="Roboto"/>
              </a:rPr>
              <a:t>Not a wireframe or mock — fully deployed, tested, and high-performing today</a:t>
            </a:r>
          </a:p>
          <a:p>
            <a:pPr algn="l">
              <a:spcBef>
                <a:spcPts val="450"/>
              </a:spcBef>
            </a:pPr>
            <a:r>
              <a:rPr sz="880" b="1">
                <a:solidFill>
                  <a:srgbClr val="F2A93B"/>
                </a:solidFill>
                <a:latin typeface="Roboto"/>
              </a:rPr>
              <a:t>▸ </a:t>
            </a:r>
            <a:r>
              <a:rPr sz="880" b="1">
                <a:solidFill>
                  <a:srgbClr val="111827"/>
                </a:solidFill>
                <a:latin typeface="Roboto SemiBold"/>
              </a:rPr>
              <a:t>Scalable Impact: </a:t>
            </a:r>
            <a:r>
              <a:rPr sz="840">
                <a:solidFill>
                  <a:srgbClr val="475569"/>
                </a:solidFill>
                <a:latin typeface="Roboto"/>
              </a:rPr>
              <a:t>Empowers millions of developers worldwide to master coding without financial barriers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4901184"/>
            <a:ext cx="8449056" cy="23774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910328"/>
            <a:ext cx="8321040" cy="21945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880" b="1">
                <a:solidFill>
                  <a:srgbClr val="F2A93B"/>
                </a:solidFill>
                <a:latin typeface="Roboto Medium"/>
              </a:rPr>
              <a:t>🌐 hackathon2-olive-eight.vercel.app   |   ⭐ github.com/sparsh101sparsh/hackathon2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